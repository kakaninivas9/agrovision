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7200" b="1">
                <a:solidFill>
                  <a:srgbClr val="00FF88"/>
                </a:solidFill>
              </a:defRPr>
            </a:pPr>
            <a:r>
              <a:t>AgroVision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>
                <a:solidFill>
                  <a:srgbClr val="FFFFFF"/>
                </a:solidFill>
              </a:defRPr>
            </a:pPr>
            <a:r>
              <a:t>Transforming Agriculture with AI &amp; IoT</a:t>
            </a:r>
          </a:p>
          <a:p>
            <a:r>
              <a:t>Next-Gen Smart Farming 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3600" b="1">
                <a:solidFill>
                  <a:srgbClr val="00FF88"/>
                </a:solidFill>
              </a:defRPr>
            </a:pPr>
            <a:r>
              <a:t>The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0A6FF"/>
                </a:solidFill>
              </a:defRPr>
            </a:pPr>
            <a:r>
              <a:t>Global Food Security at Risk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• Unpredictable Weather Extremes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• Undetected Crop Diseases (Loss up to 40%)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• Declining Farmer Income &amp; Labor Fatigue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• Information Asymmetry in Rural Markets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0" y="1645920"/>
            <a:ext cx="3017520" cy="4114800"/>
          </a:xfrm>
          <a:prstGeom prst="roundRect">
            <a:avLst/>
          </a:prstGeom>
          <a:solidFill>
            <a:srgbClr val="1E1E1E"/>
          </a:solidFill>
          <a:ln>
            <a:solidFill>
              <a:srgbClr val="00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852160" y="3017520"/>
            <a:ext cx="26517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i="1">
                <a:solidFill>
                  <a:srgbClr val="A0A0A0"/>
                </a:solidFill>
              </a:defRPr>
            </a:pPr>
            <a:r>
              <a:t>VISUAL: A split screen showing a dried field vs a sick leaf closer up.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3600" b="1">
                <a:solidFill>
                  <a:srgbClr val="00FF88"/>
                </a:solidFill>
              </a:defRPr>
            </a:pPr>
            <a:r>
              <a:t>The Solution: Smart Farm 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0A6FF"/>
                </a:solidFill>
              </a:defRPr>
            </a:pPr>
            <a:r>
              <a:t>Bold. Visionary. Integrated.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• A unified platform for AI + IoT + Weather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• Real-time decision engine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• Actionable intelligence for every farmer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• End-to-End ecosystem from Soil to Scale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0" y="1645920"/>
            <a:ext cx="3017520" cy="4114800"/>
          </a:xfrm>
          <a:prstGeom prst="roundRect">
            <a:avLst/>
          </a:prstGeom>
          <a:solidFill>
            <a:srgbClr val="1E1E1E"/>
          </a:solidFill>
          <a:ln>
            <a:solidFill>
              <a:srgbClr val="00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852160" y="3017520"/>
            <a:ext cx="26517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i="1">
                <a:solidFill>
                  <a:srgbClr val="A0A0A0"/>
                </a:solidFill>
              </a:defRPr>
            </a:pPr>
            <a:r>
              <a:t>VISUAL: AgroVision Logo centered in a glowing neon-green circle.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3600" b="1">
                <a:solidFill>
                  <a:srgbClr val="00FF88"/>
                </a:solidFill>
              </a:defRPr>
            </a:pPr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0A6FF"/>
                </a:solidFill>
              </a:defRPr>
            </a:pPr>
            <a:r>
              <a:t>The Flow of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• Sensor Array: Real-time ground truth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• Edge Node: Local data processing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• Neural Cloud: Multi-agent Gemini AI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• User Interface: Minimalist Dashboard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0" y="1645920"/>
            <a:ext cx="3017520" cy="4114800"/>
          </a:xfrm>
          <a:prstGeom prst="roundRect">
            <a:avLst/>
          </a:prstGeom>
          <a:solidFill>
            <a:srgbClr val="1E1E1E"/>
          </a:solidFill>
          <a:ln>
            <a:solidFill>
              <a:srgbClr val="00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852160" y="3017520"/>
            <a:ext cx="26517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i="1">
                <a:solidFill>
                  <a:srgbClr val="A0A0A0"/>
                </a:solidFill>
              </a:defRPr>
            </a:pPr>
            <a:r>
              <a:t>VISUAL: Logical flow diagram: Sensors -&gt; Cloud -&gt; Mobile Dashboard.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3600" b="1">
                <a:solidFill>
                  <a:srgbClr val="00FF88"/>
                </a:solidFill>
              </a:defRPr>
            </a:pPr>
            <a:r>
              <a:t>Neural Core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0A6FF"/>
                </a:solidFill>
              </a:defRPr>
            </a:pPr>
            <a:r>
              <a:t>The Brain of AgroVision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• Gemini-Powered Smart Assistant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• Multi-Agent Architecture for tasks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• Autonomous Decision Engine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• Predictive Analytics for Crop Health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0" y="1645920"/>
            <a:ext cx="3017520" cy="4114800"/>
          </a:xfrm>
          <a:prstGeom prst="roundRect">
            <a:avLst/>
          </a:prstGeom>
          <a:solidFill>
            <a:srgbClr val="1E1E1E"/>
          </a:solidFill>
          <a:ln>
            <a:solidFill>
              <a:srgbClr val="00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852160" y="3017520"/>
            <a:ext cx="26517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i="1">
                <a:solidFill>
                  <a:srgbClr val="A0A0A0"/>
                </a:solidFill>
              </a:defRPr>
            </a:pPr>
            <a:r>
              <a:t>VISUAL: A brain-like network connection visualization (Blue/Green nodes).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3600" b="1">
                <a:solidFill>
                  <a:srgbClr val="00FF88"/>
                </a:solidFill>
              </a:defRPr>
            </a:pPr>
            <a:r>
              <a:t>Disease Detection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0A6FF"/>
                </a:solidFill>
              </a:defRPr>
            </a:pPr>
            <a:r>
              <a:t>AI Diagnostic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• Instant Leaf Image Scanning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• Computer Vision Diagnosis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• Treatment &amp; Fertilizer Recommendations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• Historical Scan Tracking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0" y="1645920"/>
            <a:ext cx="3017520" cy="4114800"/>
          </a:xfrm>
          <a:prstGeom prst="roundRect">
            <a:avLst/>
          </a:prstGeom>
          <a:solidFill>
            <a:srgbClr val="1E1E1E"/>
          </a:solidFill>
          <a:ln>
            <a:solidFill>
              <a:srgbClr val="00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852160" y="3017520"/>
            <a:ext cx="26517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i="1">
                <a:solidFill>
                  <a:srgbClr val="A0A0A0"/>
                </a:solidFill>
              </a:defRPr>
            </a:pPr>
            <a:r>
              <a:t>VISUAL: UI Mockup showing a phone scanning a leaf with a 'Detected: Late Blight' overlay.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3600" b="1">
                <a:solidFill>
                  <a:srgbClr val="00FF88"/>
                </a:solidFill>
              </a:defRPr>
            </a:pPr>
            <a:r>
              <a:t>Weather Intelligence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0A6FF"/>
                </a:solidFill>
              </a:defRPr>
            </a:pPr>
            <a:r>
              <a:t>Precision Meteorology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• Open-Meteo API Real-time integration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• Localized Weather Risk Forecasting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• Dynamic Irrigation Scheduling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• Extreme Weather Alerts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0" y="1645920"/>
            <a:ext cx="3017520" cy="4114800"/>
          </a:xfrm>
          <a:prstGeom prst="roundRect">
            <a:avLst/>
          </a:prstGeom>
          <a:solidFill>
            <a:srgbClr val="1E1E1E"/>
          </a:solidFill>
          <a:ln>
            <a:solidFill>
              <a:srgbClr val="00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852160" y="3017520"/>
            <a:ext cx="26517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i="1">
                <a:solidFill>
                  <a:srgbClr val="A0A0A0"/>
                </a:solidFill>
              </a:defRPr>
            </a:pPr>
            <a:r>
              <a:t>VISUAL: Weather dashboard widget with a 7-day humidity/temp chart.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3600" b="1">
                <a:solidFill>
                  <a:srgbClr val="00FF88"/>
                </a:solidFill>
              </a:defRPr>
            </a:pPr>
            <a:r>
              <a:t>IoT Monitoring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0A6FF"/>
                </a:solidFill>
              </a:defRPr>
            </a:pPr>
            <a:r>
              <a:t>The Farm's Digital Nervous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• Soil Moisture &amp; Heat Monitoring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• NPK Nutrient Level Telemetry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• Ambient Light &amp; Rain Sensing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• Real-time ThingSpeak Data Stream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0" y="1645920"/>
            <a:ext cx="3017520" cy="4114800"/>
          </a:xfrm>
          <a:prstGeom prst="roundRect">
            <a:avLst/>
          </a:prstGeom>
          <a:solidFill>
            <a:srgbClr val="1E1E1E"/>
          </a:solidFill>
          <a:ln>
            <a:solidFill>
              <a:srgbClr val="00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852160" y="3017520"/>
            <a:ext cx="26517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i="1">
                <a:solidFill>
                  <a:srgbClr val="A0A0A0"/>
                </a:solidFill>
              </a:defRPr>
            </a:pPr>
            <a:r>
              <a:t>VISUAL: Live gauge chart visual (Soil: 45%, Temp: 28C).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3600" b="1">
                <a:solidFill>
                  <a:srgbClr val="00FF88"/>
                </a:solidFill>
              </a:defRPr>
            </a:pPr>
            <a:r>
              <a:t>Income Optimizer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0A6FF"/>
                </a:solidFill>
              </a:defRPr>
            </a:pPr>
            <a:r>
              <a:t>Maximizing Farmer Profitability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• Al-Driven Yield Prediction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• Real-time Market Price Trends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• Profit &amp; Loss Estimations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• Crop Rotation Recommendations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0" y="1645920"/>
            <a:ext cx="3017520" cy="4114800"/>
          </a:xfrm>
          <a:prstGeom prst="roundRect">
            <a:avLst/>
          </a:prstGeom>
          <a:solidFill>
            <a:srgbClr val="1E1E1E"/>
          </a:solidFill>
          <a:ln>
            <a:solidFill>
              <a:srgbClr val="00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852160" y="3017520"/>
            <a:ext cx="26517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i="1">
                <a:solidFill>
                  <a:srgbClr val="A0A0A0"/>
                </a:solidFill>
              </a:defRPr>
            </a:pPr>
            <a:r>
              <a:t>VISUAL: A bar chart showing 'Expected Revenue' comparing tradition vs AgroVision.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3600" b="1">
                <a:solidFill>
                  <a:srgbClr val="00FF88"/>
                </a:solidFill>
              </a:defRPr>
            </a:pPr>
            <a:r>
              <a:t>Government Schemes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0A6FF"/>
                </a:solidFill>
              </a:defRPr>
            </a:pPr>
            <a:r>
              <a:t>Bridging the Policy Gap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• Automated Scheme Eligibility Check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• Personalized Benefit Matches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• Integrated PM-KISAN, PMFBY datasets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• Simplified Application Guidance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0" y="1645920"/>
            <a:ext cx="3017520" cy="4114800"/>
          </a:xfrm>
          <a:prstGeom prst="roundRect">
            <a:avLst/>
          </a:prstGeom>
          <a:solidFill>
            <a:srgbClr val="1E1E1E"/>
          </a:solidFill>
          <a:ln>
            <a:solidFill>
              <a:srgbClr val="00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852160" y="3017520"/>
            <a:ext cx="26517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i="1">
                <a:solidFill>
                  <a:srgbClr val="A0A0A0"/>
                </a:solidFill>
              </a:defRPr>
            </a:pPr>
            <a:r>
              <a:t>VISUAL: A checklist dashboard shown with 'Eligible for: PMFBY, KCC'.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3600" b="1">
                <a:solidFill>
                  <a:srgbClr val="00FF88"/>
                </a:solidFill>
              </a:defRPr>
            </a:pPr>
            <a:r>
              <a:t>Social Intelligence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0A6FF"/>
                </a:solidFill>
              </a:defRPr>
            </a:pPr>
            <a:r>
              <a:t>The Collaborative Ecosystem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• Inter-Farmer Insight Sharing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• Community Alert System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• Expert-Led Discussion Threads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• Best Practice Marketplace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0" y="1645920"/>
            <a:ext cx="3017520" cy="4114800"/>
          </a:xfrm>
          <a:prstGeom prst="roundRect">
            <a:avLst/>
          </a:prstGeom>
          <a:solidFill>
            <a:srgbClr val="1E1E1E"/>
          </a:solidFill>
          <a:ln>
            <a:solidFill>
              <a:srgbClr val="00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852160" y="3017520"/>
            <a:ext cx="26517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i="1">
                <a:solidFill>
                  <a:srgbClr val="A0A0A0"/>
                </a:solidFill>
              </a:defRPr>
            </a:pPr>
            <a:r>
              <a:t>VISUAL: A social feed mockup with farmer comments and like buttons.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3600" b="1">
                <a:solidFill>
                  <a:srgbClr val="00FF88"/>
                </a:solidFill>
              </a:defRPr>
            </a:pPr>
            <a:r>
              <a:t>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0A6FF"/>
                </a:solidFill>
              </a:defRPr>
            </a:pPr>
            <a:r>
              <a:t>Built for Scale &amp; Impact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• Frontend: React / Next.js (Obelisk Design)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• Backend: Node.js &amp; Express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• AI Engine: Google Gemini Vision / Groq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• IoT: ESP8266 &amp; Arduino C++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• Database: MongoDB &amp; ThingSpeak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0" y="1645920"/>
            <a:ext cx="3017520" cy="4114800"/>
          </a:xfrm>
          <a:prstGeom prst="roundRect">
            <a:avLst/>
          </a:prstGeom>
          <a:solidFill>
            <a:srgbClr val="1E1E1E"/>
          </a:solidFill>
          <a:ln>
            <a:solidFill>
              <a:srgbClr val="00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852160" y="3017520"/>
            <a:ext cx="26517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i="1">
                <a:solidFill>
                  <a:srgbClr val="A0A0A0"/>
                </a:solidFill>
              </a:defRPr>
            </a:pPr>
            <a:r>
              <a:t>VISUAL: Logo grid for React, Node, MongoDB, Gemini, Arduino.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3600" b="1">
                <a:solidFill>
                  <a:srgbClr val="00FF88"/>
                </a:solidFill>
              </a:defRPr>
            </a:pPr>
            <a:r>
              <a:t>Proven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0A6FF"/>
                </a:solidFill>
              </a:defRPr>
            </a:pPr>
            <a:r>
              <a:t>Results that Matter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• +25% Average Increase in Yield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• -40% Reduction in Water Consumption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• -60% Early Disease Intervention Rate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• Unified control in the farmer's pocket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0" y="1645920"/>
            <a:ext cx="3017520" cy="4114800"/>
          </a:xfrm>
          <a:prstGeom prst="roundRect">
            <a:avLst/>
          </a:prstGeom>
          <a:solidFill>
            <a:srgbClr val="1E1E1E"/>
          </a:solidFill>
          <a:ln>
            <a:solidFill>
              <a:srgbClr val="00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852160" y="3017520"/>
            <a:ext cx="26517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i="1">
                <a:solidFill>
                  <a:srgbClr val="A0A0A0"/>
                </a:solidFill>
              </a:defRPr>
            </a:pPr>
            <a:r>
              <a:t>VISUAL: Big bold numbers: 25% | 40% | 60% with arrows up/down.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3600" b="1">
                <a:solidFill>
                  <a:srgbClr val="00FF88"/>
                </a:solidFill>
              </a:defRPr>
            </a:pPr>
            <a:r>
              <a:t>The Road Ahead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0A6FF"/>
                </a:solidFill>
              </a:defRPr>
            </a:pPr>
            <a:r>
              <a:t>Scalability &amp; Innovation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• Native Android/iOS Application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• Blockchain Supply Chain Transparency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• Drone-Based Multispectral Imaging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• AI-Predictive Market Price Engine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0" y="1645920"/>
            <a:ext cx="3017520" cy="4114800"/>
          </a:xfrm>
          <a:prstGeom prst="roundRect">
            <a:avLst/>
          </a:prstGeom>
          <a:solidFill>
            <a:srgbClr val="1E1E1E"/>
          </a:solidFill>
          <a:ln>
            <a:solidFill>
              <a:srgbClr val="00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852160" y="3017520"/>
            <a:ext cx="26517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i="1">
                <a:solidFill>
                  <a:srgbClr val="A0A0A0"/>
                </a:solidFill>
              </a:defRPr>
            </a:pPr>
            <a:r>
              <a:t>VISUAL: A map showing expanding nodes across a country.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3600" b="1">
                <a:solidFill>
                  <a:srgbClr val="00FF88"/>
                </a:solidFill>
              </a:defRPr>
            </a:pPr>
            <a:r>
              <a:t>The Future of Farming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0A6FF"/>
                </a:solidFill>
              </a:defRPr>
            </a:pPr>
            <a:r>
              <a:t>Join the AgroVision Revolution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• Smart Agriculture for All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• Sustainable. Scalable. Profitable.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• AgroVision: Elevating Farmers Digitally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0" y="1645920"/>
            <a:ext cx="3017520" cy="4114800"/>
          </a:xfrm>
          <a:prstGeom prst="roundRect">
            <a:avLst/>
          </a:prstGeom>
          <a:solidFill>
            <a:srgbClr val="1E1E1E"/>
          </a:solidFill>
          <a:ln>
            <a:solidFill>
              <a:srgbClr val="00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852160" y="3017520"/>
            <a:ext cx="26517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i="1">
                <a:solidFill>
                  <a:srgbClr val="A0A0A0"/>
                </a:solidFill>
              </a:defRPr>
            </a:pPr>
            <a:r>
              <a:t>VISUAL: A photo of a glowing green sprout growing out of a digital circuit board.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628</Words>
  <Application>Microsoft Office PowerPoint</Application>
  <PresentationFormat>On-screen Show (4:3)</PresentationFormat>
  <Paragraphs>115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AgroVision</vt:lpstr>
      <vt:lpstr>The Problem</vt:lpstr>
      <vt:lpstr>The Solution: Smart Farm OS</vt:lpstr>
      <vt:lpstr>System Architecture</vt:lpstr>
      <vt:lpstr>Neural Core AI</vt:lpstr>
      <vt:lpstr>Disease Detection</vt:lpstr>
      <vt:lpstr>Weather Intelligence</vt:lpstr>
      <vt:lpstr>IoT Monitoring</vt:lpstr>
      <vt:lpstr>Income Optimizer</vt:lpstr>
      <vt:lpstr>Government Schemes</vt:lpstr>
      <vt:lpstr>Social Intelligence</vt:lpstr>
      <vt:lpstr>Technology Stack</vt:lpstr>
      <vt:lpstr>Proven Impact</vt:lpstr>
      <vt:lpstr>The Road Ahead</vt:lpstr>
      <vt:lpstr>The Future of Farming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Sai Nivas</cp:lastModifiedBy>
  <cp:revision>1</cp:revision>
  <dcterms:created xsi:type="dcterms:W3CDTF">2013-01-27T09:14:16Z</dcterms:created>
  <dcterms:modified xsi:type="dcterms:W3CDTF">2026-04-23T16:50:55Z</dcterms:modified>
  <cp:category/>
</cp:coreProperties>
</file>