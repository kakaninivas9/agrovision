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CropGuard Pro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AI-Powered Plant Disease Detection &amp; IoT Smart Farming System</a:t>
            </a:r>
          </a:p>
          <a:p/>
          <a:p>
            <a:r>
              <a:t>Presented by: [Team Member Names]</a:t>
            </a:r>
          </a:p>
          <a:p>
            <a:r>
              <a:t>Guide: [Guide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B0082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Project Type: Community Service Project (CSP)</a:t>
            </a:r>
          </a:p>
          <a:p>
            <a:pPr>
              <a:spcAft>
                <a:spcPts val="1000"/>
              </a:spcAft>
              <a:defRPr sz="1800"/>
            </a:pPr>
            <a:r>
              <a:t>Focus Area: Sustainable Agriculture &amp; Smart Technology</a:t>
            </a:r>
          </a:p>
          <a:p>
            <a:pPr>
              <a:spcAft>
                <a:spcPts val="1000"/>
              </a:spcAft>
              <a:defRPr sz="1800"/>
            </a:pPr>
            <a:r>
              <a:t>Target Audience: Small-scale &amp; Commercial Farmers</a:t>
            </a:r>
          </a:p>
          <a:p>
            <a:pPr>
              <a:spcAft>
                <a:spcPts val="1000"/>
              </a:spcAft>
              <a:defRPr sz="1800"/>
            </a:pPr>
            <a:r>
              <a:t>Domain: Artificial Intelligence + Internet of Things (IoT)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B0082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Agriculture faces major threats from unpredictable diseases and resource scarcity.</a:t>
            </a:r>
          </a:p>
          <a:p>
            <a:pPr>
              <a:spcAft>
                <a:spcPts val="1000"/>
              </a:spcAft>
              <a:defRPr sz="1800"/>
            </a:pPr>
            <a:r>
              <a:t>Traditional disease monitoring is manual, slow, and often inaccurate.</a:t>
            </a:r>
          </a:p>
          <a:p>
            <a:pPr>
              <a:spcAft>
                <a:spcPts val="1000"/>
              </a:spcAft>
              <a:defRPr sz="1800"/>
            </a:pPr>
            <a:r>
              <a:t>Inefficient irrigation leads to water wastage or crop dehydration.</a:t>
            </a:r>
          </a:p>
          <a:p>
            <a:pPr>
              <a:spcAft>
                <a:spcPts val="1000"/>
              </a:spcAft>
              <a:defRPr sz="1800"/>
            </a:pPr>
            <a:r>
              <a:t>CropGuard Pro bridges this gap using Edge AI and Real-time Sensor networks.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B0082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Detection Gap: Farmers often notice leaf diseases only when it's too late for treatment.</a:t>
            </a:r>
          </a:p>
          <a:p>
            <a:pPr>
              <a:spcAft>
                <a:spcPts val="1000"/>
              </a:spcAft>
              <a:defRPr sz="1800"/>
            </a:pPr>
            <a:r>
              <a:t>Manual Inefficiency: Continuous field monitoring is labor-intensive.</a:t>
            </a:r>
          </a:p>
          <a:p>
            <a:pPr>
              <a:spcAft>
                <a:spcPts val="1000"/>
              </a:spcAft>
              <a:defRPr sz="1800"/>
            </a:pPr>
            <a:r>
              <a:t>Climate Vulnerability: Sudden weather changes (rain/heat) affect soil moisture rapidly.</a:t>
            </a:r>
          </a:p>
          <a:p>
            <a:pPr>
              <a:spcAft>
                <a:spcPts val="1000"/>
              </a:spcAft>
              <a:defRPr sz="1800"/>
            </a:pPr>
            <a:r>
              <a:t>Resource Waste: Over-irrigation wastes 30-40% of water in traditional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B0082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To develop a Deep Learning model (CNN) for 15 leaf disease classes.</a:t>
            </a:r>
          </a:p>
          <a:p>
            <a:pPr>
              <a:spcAft>
                <a:spcPts val="1000"/>
              </a:spcAft>
              <a:defRPr sz="1800"/>
            </a:pPr>
            <a:r>
              <a:t>To automate irrigation using Soil moisture and Rain sensors.</a:t>
            </a:r>
          </a:p>
          <a:p>
            <a:pPr>
              <a:spcAft>
                <a:spcPts val="1000"/>
              </a:spcAft>
              <a:defRPr sz="1800"/>
            </a:pPr>
            <a:r>
              <a:t>To provide a unified cloud dashboard for remote farm monitoring.</a:t>
            </a:r>
          </a:p>
          <a:p>
            <a:pPr>
              <a:spcAft>
                <a:spcPts val="1000"/>
              </a:spcAft>
              <a:defRPr sz="1800"/>
            </a:pPr>
            <a:r>
              <a:t>To ensure high diagnostic accuracy (&gt;90%) using MobileNetV2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B0082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Field Unit: NodeMCU ESP8266 + Multi-sensor array (DHT22, Soil, NPK, Rain).</a:t>
            </a:r>
          </a:p>
          <a:p>
            <a:pPr>
              <a:spcAft>
                <a:spcPts val="1000"/>
              </a:spcAft>
              <a:defRPr sz="1800"/>
            </a:pPr>
            <a:r>
              <a:t>Cloud Layer: ThingSpeak API for data logging and visualization.</a:t>
            </a:r>
          </a:p>
          <a:p>
            <a:pPr>
              <a:spcAft>
                <a:spcPts val="1000"/>
              </a:spcAft>
              <a:defRPr sz="1800"/>
            </a:pPr>
            <a:r>
              <a:t>AI Layer: Flask Server running TensorFlow/TFLite models.</a:t>
            </a:r>
          </a:p>
          <a:p>
            <a:pPr>
              <a:spcAft>
                <a:spcPts val="1000"/>
              </a:spcAft>
              <a:defRPr sz="1800"/>
            </a:pPr>
            <a:r>
              <a:t>User Interface: Responsive Web Dashboard &amp; Mobile Application.</a:t>
            </a:r>
          </a:p>
          <a:p>
            <a:pPr>
              <a:spcAft>
                <a:spcPts val="1000"/>
              </a:spcAft>
              <a:defRPr sz="1800"/>
            </a:pPr>
            <a:r>
              <a:t>Action Layer: 5V Relay controlling the Irrigation Pump based on logic.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B0082"/>
                </a:solidFill>
              </a:defRPr>
            </a:pPr>
            <a:r>
              <a:t>Part 1: AI Disease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Model: MobileNetV2 (Transfer Learning approach).</a:t>
            </a:r>
          </a:p>
          <a:p>
            <a:pPr>
              <a:spcAft>
                <a:spcPts val="1000"/>
              </a:spcAft>
              <a:defRPr sz="1800"/>
            </a:pPr>
            <a:r>
              <a:t>Dataset: 6,000+ images from PlantVillage repository.</a:t>
            </a:r>
          </a:p>
          <a:p>
            <a:pPr>
              <a:spcAft>
                <a:spcPts val="1000"/>
              </a:spcAft>
              <a:defRPr sz="1800"/>
            </a:pPr>
            <a:r>
              <a:t>Capabilities: Detects healthy vs diseased states for Tomato, Potato, and Bell Pepper.</a:t>
            </a:r>
          </a:p>
          <a:p>
            <a:pPr>
              <a:spcAft>
                <a:spcPts val="1000"/>
              </a:spcAft>
              <a:defRPr sz="1800"/>
            </a:pPr>
            <a:r>
              <a:t>Output: Disease label, confidence score, and treatment recommendations.</a:t>
            </a:r>
          </a:p>
          <a:p>
            <a:pPr>
              <a:spcAft>
                <a:spcPts val="1000"/>
              </a:spcAft>
              <a:defRPr sz="1800"/>
            </a:pPr>
            <a:r>
              <a:t>Offline Ready: TFLite conversion for mobile edge inference.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B0082"/>
                </a:solidFill>
              </a:defRPr>
            </a:pPr>
            <a:r>
              <a:t>Part 2: IoT Smart Farming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Environment: Monitoring Temp, Humidity, and Light Intensity.</a:t>
            </a:r>
          </a:p>
          <a:p>
            <a:pPr>
              <a:spcAft>
                <a:spcPts val="1000"/>
              </a:spcAft>
              <a:defRPr sz="1800"/>
            </a:pPr>
            <a:r>
              <a:t>Soil Health: NPK (Nitrogen, Phosphorous, Potassium) level detection.</a:t>
            </a:r>
          </a:p>
          <a:p>
            <a:pPr>
              <a:spcAft>
                <a:spcPts val="1000"/>
              </a:spcAft>
              <a:defRPr sz="1800"/>
            </a:pPr>
            <a:r>
              <a:t>Moisture Control: Soil moisture sensor calibrated for real-time % readings.</a:t>
            </a:r>
          </a:p>
          <a:p>
            <a:pPr>
              <a:spcAft>
                <a:spcPts val="1000"/>
              </a:spcAft>
              <a:defRPr sz="1800"/>
            </a:pPr>
            <a:r>
              <a:t>Weather Sensing: Rain sensor to prevent redundant irrigation.</a:t>
            </a:r>
          </a:p>
          <a:p>
            <a:pPr>
              <a:spcAft>
                <a:spcPts val="1000"/>
              </a:spcAft>
              <a:defRPr sz="1800"/>
            </a:pPr>
            <a:r>
              <a:t>Controller: Low-power NodeMCU ESP8266 with WiFi connectivity.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B0082"/>
                </a:solidFill>
              </a:defRPr>
            </a:pPr>
            <a:r>
              <a:t>Irrigation Logic &amp; Cloud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Condition: IF (Soil &lt; 30% AND No Rain) THEN Pump = ON.</a:t>
            </a:r>
          </a:p>
          <a:p>
            <a:pPr>
              <a:spcAft>
                <a:spcPts val="1000"/>
              </a:spcAft>
              <a:defRPr sz="1800"/>
            </a:pPr>
            <a:r>
              <a:t>Automation: Relay cycles for 5 seconds to prevent soil flooding.</a:t>
            </a:r>
          </a:p>
          <a:p>
            <a:pPr>
              <a:spcAft>
                <a:spcPts val="1000"/>
              </a:spcAft>
              <a:defRPr sz="1800"/>
            </a:pPr>
            <a:r>
              <a:t>ThingSpeak: 8 Multi-field visualization for historical trends.</a:t>
            </a:r>
          </a:p>
          <a:p>
            <a:pPr>
              <a:spcAft>
                <a:spcPts val="1000"/>
              </a:spcAft>
              <a:defRPr sz="1800"/>
            </a:pPr>
            <a:r>
              <a:t>Alerts: Real-time notification if soil moisture hits critical 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B0082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Hardware: NodeMCU, DHT22, Soil Sensor, NPK, Relay, LCD.</a:t>
            </a:r>
          </a:p>
          <a:p>
            <a:pPr>
              <a:spcAft>
                <a:spcPts val="1000"/>
              </a:spcAft>
              <a:defRPr sz="1800"/>
            </a:pPr>
            <a:r>
              <a:t>Backend: Python (Flask), Node.js (Next.js context).</a:t>
            </a:r>
          </a:p>
          <a:p>
            <a:pPr>
              <a:spcAft>
                <a:spcPts val="1000"/>
              </a:spcAft>
              <a:defRPr sz="1800"/>
            </a:pPr>
            <a:r>
              <a:t>Machine Learning: TensorFlow, Keras, OpenCV.</a:t>
            </a:r>
          </a:p>
          <a:p>
            <a:pPr>
              <a:spcAft>
                <a:spcPts val="1000"/>
              </a:spcAft>
              <a:defRPr sz="1800"/>
            </a:pPr>
            <a:r>
              <a:t>Frontend: React, Tailwind CSS, Obelisk Design System.</a:t>
            </a:r>
          </a:p>
          <a:p>
            <a:pPr>
              <a:spcAft>
                <a:spcPts val="1000"/>
              </a:spcAft>
              <a:defRPr sz="1800"/>
            </a:pPr>
            <a:r>
              <a:t>Communication: HTTP/REST, MQTT, ThingSpeak 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B0082"/>
                </a:solidFill>
              </a:defRPr>
            </a:pPr>
            <a:r>
              <a:t>Advantages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Early Detection: Reduces crop loss by up to 25%.</a:t>
            </a:r>
          </a:p>
          <a:p>
            <a:pPr>
              <a:spcAft>
                <a:spcPts val="1000"/>
              </a:spcAft>
              <a:defRPr sz="1800"/>
            </a:pPr>
            <a:r>
              <a:t>Water Saving: Efficient irrigation saves ~35% of water.</a:t>
            </a:r>
          </a:p>
          <a:p>
            <a:pPr>
              <a:spcAft>
                <a:spcPts val="1000"/>
              </a:spcAft>
              <a:defRPr sz="1800"/>
            </a:pPr>
            <a:r>
              <a:t>Data-Driven: Farmers make informed decisions based on NPK/Weather data.</a:t>
            </a:r>
          </a:p>
          <a:p>
            <a:pPr>
              <a:spcAft>
                <a:spcPts val="1000"/>
              </a:spcAft>
              <a:defRPr sz="1800"/>
            </a:pPr>
            <a:r>
              <a:t>Scalability: Easily adaptable to different crop datasets.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B0082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Future Work: Satellite imagery integration for large-scale farm monitoring.</a:t>
            </a:r>
          </a:p>
          <a:p>
            <a:pPr>
              <a:spcAft>
                <a:spcPts val="1000"/>
              </a:spcAft>
              <a:defRPr sz="1800"/>
            </a:pPr>
            <a:r>
              <a:t>Direct Link: Farmer-to-Expert chat portal integration.</a:t>
            </a:r>
          </a:p>
          <a:p>
            <a:pPr>
              <a:spcAft>
                <a:spcPts val="1000"/>
              </a:spcAft>
              <a:defRPr sz="1800"/>
            </a:pPr>
            <a:r>
              <a:t>Security: Blockchain-based supply chain tracking.</a:t>
            </a:r>
          </a:p>
          <a:p>
            <a:pPr>
              <a:spcAft>
                <a:spcPts val="1000"/>
              </a:spcAft>
              <a:defRPr sz="1800"/>
            </a:pPr>
            <a:r>
              <a:t>Summary: CropGuard Pro provides a robust, low-cost solution for precision agriculture.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